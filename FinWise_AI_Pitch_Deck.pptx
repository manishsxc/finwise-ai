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Crore Rs.</c:v>
                </c:pt>
              </c:strCache>
            </c:strRef>
          </c:tx>
          <c:spPr>
            <a:solidFill>
              <a:srgbClr val="1D6F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6F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2.9</c:v>
                </c:pt>
                <c:pt idx="1">
                  <c:v>19.7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572000" cy="4572000"/>
          </a:xfrm>
          <a:prstGeom prst="oval">
            <a:avLst/>
          </a:prstGeom>
          <a:solidFill>
            <a:srgbClr val="1D6FE8">
              <a:alpha val="12000"/>
            </a:srgbClr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oval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47472"/>
            <a:ext cx="2560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566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TROPHY  ET AI HACKATHON 2026  PS#9</a:t>
            </a:r>
            <a:endParaRPr lang="en-US" sz="850" dirty="0"/>
          </a:p>
        </p:txBody>
      </p:sp>
      <p:pic>
        <p:nvPicPr>
          <p:cNvPr id="7" name="Image 0" descr="/home/claude/finwise-final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87552"/>
            <a:ext cx="868680" cy="86868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932688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FinWise AI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1481328" y="170078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6B6D4"/>
                </a:solidFill>
              </a:rPr>
              <a:t>India's AI-Powered Financial OS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57200" y="2304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The CA every Indian deserves — at Rs.499/month instead of Rs.25,000/year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779776"/>
            <a:ext cx="822960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2944368"/>
            <a:ext cx="2606040" cy="1371600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" y="30540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57200" y="3566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Indians have no financial plan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55848" y="2944368"/>
            <a:ext cx="2606040" cy="1371600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355848" y="30540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Rs.14Cr+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3355848" y="3566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Addressable market users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54496" y="2944368"/>
            <a:ext cx="2606040" cy="1371600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254496" y="30540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Rs.2 Cr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254496" y="3566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Seed round — raising now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Sumit Kumar (CEO)  sumitranjanhisu@gmail.com  +91 73660 06363  |  Mehak Singhal (CTO)  singhalmehak04@gmail.com  +91 70806 40233  |  KIIT University, Bhubaneswar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 of Indians Have No Financial Plan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347472" y="1719072"/>
            <a:ext cx="2651760" cy="1078992"/>
          </a:xfrm>
          <a:prstGeom prst="rect">
            <a:avLst/>
          </a:prstGeom>
          <a:solidFill>
            <a:srgbClr val="16080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719072"/>
            <a:ext cx="54864" cy="10789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810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 is Unaffordable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212140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 good CA charges Rs.25,000-1,00,000/year. Only top 5% can afford real financial advice.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719072"/>
            <a:ext cx="2651760" cy="1078992"/>
          </a:xfrm>
          <a:prstGeom prst="rect">
            <a:avLst/>
          </a:prstGeom>
          <a:solidFill>
            <a:srgbClr val="16080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719072"/>
            <a:ext cx="54864" cy="10789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346704" y="1810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Too Complex to DIY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46704" y="212140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Tax regimes, ELSS, NPS, LTCG, STCG — most salaried Indians are completely lost.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53328" y="1719072"/>
            <a:ext cx="2651760" cy="1078992"/>
          </a:xfrm>
          <a:prstGeom prst="rect">
            <a:avLst/>
          </a:prstGeom>
          <a:solidFill>
            <a:srgbClr val="16080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53328" y="1719072"/>
            <a:ext cx="54864" cy="10789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1810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Personalized Advice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99632" y="212140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Generic YouTube videos don't know your salary, liabilities, or life goals.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953512"/>
            <a:ext cx="2651760" cy="1078992"/>
          </a:xfrm>
          <a:prstGeom prst="rect">
            <a:avLst/>
          </a:prstGeom>
          <a:solidFill>
            <a:srgbClr val="16080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953512"/>
            <a:ext cx="54864" cy="10789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" y="30449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Missed Deductions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" y="335584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Average Indian loses Rs.18,000-45,000/year in missed tax deductions alone.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953512"/>
            <a:ext cx="2651760" cy="1078992"/>
          </a:xfrm>
          <a:prstGeom prst="rect">
            <a:avLst/>
          </a:prstGeom>
          <a:solidFill>
            <a:srgbClr val="16080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953512"/>
            <a:ext cx="54864" cy="10789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3346704" y="30449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Last-Minute Planning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46704" y="335584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80% of tax-saving investments happen in Feb-March, making them suboptimal.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53328" y="2953512"/>
            <a:ext cx="2651760" cy="1078992"/>
          </a:xfrm>
          <a:prstGeom prst="rect">
            <a:avLst/>
          </a:prstGeom>
          <a:solidFill>
            <a:srgbClr val="16080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53328" y="2953512"/>
            <a:ext cx="54864" cy="10789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6199632" y="30449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Language Barrier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9632" y="335584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All financial tools are English-only. 70% prefer Hindi or regional languages.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4270248"/>
            <a:ext cx="8449056" cy="658368"/>
          </a:xfrm>
          <a:prstGeom prst="rect">
            <a:avLst/>
          </a:prstGeom>
          <a:solidFill>
            <a:srgbClr val="1C0808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159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RESULT: Indians collectively lose over Rs.2 Lakh Crore every year in tax inefficiency, wrong investments &amp; zero planning.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FinWise AI — Your Personal CA, Available 24x7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B6D4"/>
                </a:solidFill>
              </a:rPr>
              <a:t>AI-powered financial OS built ground-up for India — multilingual, personalized, priced for every Indian.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993392"/>
            <a:ext cx="4069080" cy="777240"/>
          </a:xfrm>
          <a:prstGeom prst="rect">
            <a:avLst/>
          </a:prstGeom>
          <a:solidFill>
            <a:srgbClr val="0A1A2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993392"/>
            <a:ext cx="54864" cy="77724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2048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9264" y="2048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Tax Wizard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" y="234086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Upload Form 16. AI reads it, compares old vs new regime, finds missed deductions, generates optimized ITR plan. Saves avg Rs.22,000/year.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26864" y="1993392"/>
            <a:ext cx="4069080" cy="777240"/>
          </a:xfrm>
          <a:prstGeom prst="rect">
            <a:avLst/>
          </a:prstGeom>
          <a:solidFill>
            <a:srgbClr val="0A1A2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26864" y="1993392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773168" y="20482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48656" y="2048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FIRE Path Planner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234086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Enter income, expenses, retirement dream. AI builds step-by-step SIP + investment plan to reach Financial Independence.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2889504"/>
            <a:ext cx="4069080" cy="777240"/>
          </a:xfrm>
          <a:prstGeom prst="rect">
            <a:avLst/>
          </a:prstGeom>
          <a:solidFill>
            <a:srgbClr val="0A1A2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889504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" y="294436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9264" y="2944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MF Portfolio X-Ray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" y="32369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Import CAMS statement. AI calculates actual XIRR, detects overlapping funds, recommends rebalancing. Takes 2 minutes.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26864" y="2889504"/>
            <a:ext cx="4069080" cy="777240"/>
          </a:xfrm>
          <a:prstGeom prst="rect">
            <a:avLst/>
          </a:prstGeom>
          <a:solidFill>
            <a:srgbClr val="0A1A2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2889504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773168" y="294436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48656" y="2944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Advisor Chatbot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3168" y="32369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Ask anything in Hindi or English. 24x7. Answers questions a CA charges Rs.2,000 consultation for. Powered by Claude AI.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3785616"/>
            <a:ext cx="4069080" cy="777240"/>
          </a:xfrm>
          <a:prstGeom prst="rect">
            <a:avLst/>
          </a:prstGeom>
          <a:solidFill>
            <a:srgbClr val="0A1A2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785616"/>
            <a:ext cx="54864" cy="7772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" y="38404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9264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Simulator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" y="413308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What if I buy a house? What if I lose my job? AI models real-life scenarios and shows impact on your FIRE timeline.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26864" y="3785616"/>
            <a:ext cx="4069080" cy="777240"/>
          </a:xfrm>
          <a:prstGeom prst="rect">
            <a:avLst/>
          </a:prstGeom>
          <a:solidFill>
            <a:srgbClr val="0A1A2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26864" y="3785616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38404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48656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Money Health Score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73168" y="413308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6-dimension score: Emergency Fund, Insurance, Investments, Debt, Tax, Goals. Weekly report card with specific action items.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PRODUCT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 Tools. One Subscription. Built for Bharat.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664208"/>
            <a:ext cx="1965960" cy="84124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664208"/>
            <a:ext cx="1965960" cy="4572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Tax Wizard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20665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 16 AI + old vs new regime optimizer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78024" y="1664208"/>
            <a:ext cx="1965960" cy="84124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78024" y="1664208"/>
            <a:ext cx="19659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569464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FIRE Planner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9464" y="20665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Retirement calculator + SIP optimizer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08576" y="1664208"/>
            <a:ext cx="1965960" cy="84124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1664208"/>
            <a:ext cx="19659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700016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MF X-Ray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0016" y="20665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CAMS import + XIRR + overlap detection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39128" y="1664208"/>
            <a:ext cx="1965960" cy="84124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39128" y="1664208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830568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Advisor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30568" y="20665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24x7 Hindi + English chatbot (Claude AI)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2642616"/>
            <a:ext cx="1965960" cy="84124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2642616"/>
            <a:ext cx="196596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27340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Scenario Sim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8912" y="30449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6 life event what-if simulators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78024" y="2642616"/>
            <a:ext cx="1965960" cy="84124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78024" y="2642616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2569464" y="27340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Health Score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9464" y="30449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6-dimension financial wellness tracker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08576" y="2642616"/>
            <a:ext cx="1965960" cy="84124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08576" y="2642616"/>
            <a:ext cx="196596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4700016" y="27340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Goals + Badges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00016" y="30449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Gamified goal tracking with rewards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39128" y="2642616"/>
            <a:ext cx="1965960" cy="84124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39128" y="2642616"/>
            <a:ext cx="1965960" cy="4572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35" name="Text 33"/>
          <p:cNvSpPr/>
          <p:nvPr/>
        </p:nvSpPr>
        <p:spPr>
          <a:xfrm>
            <a:off x="6830568" y="27340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Weekly Report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30568" y="30449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Auto PDF report card every Sunday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7472" y="3621024"/>
            <a:ext cx="1965960" cy="84124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7472" y="3621024"/>
            <a:ext cx="19659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438912" y="371246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Couple Planner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38912" y="4023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Joint financial planning &amp; optimization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478024" y="3621024"/>
            <a:ext cx="1965960" cy="84124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78024" y="3621024"/>
            <a:ext cx="19659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2569464" y="371246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NRI Planning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569464" y="4023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Cross-border tax + DTAA guidance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08576" y="3621024"/>
            <a:ext cx="1965960" cy="84124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08576" y="3621024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4700016" y="371246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Business Cash Flow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700016" y="4023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GST tracker + loan advisor (Rs.1,299 plan)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739128" y="3621024"/>
            <a:ext cx="1965960" cy="84124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39128" y="3621024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6830568" y="371246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PWA App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30568" y="4023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Install from browser, offline mode works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47472" y="4572000"/>
            <a:ext cx="8449056" cy="384048"/>
          </a:xfrm>
          <a:prstGeom prst="rect">
            <a:avLst/>
          </a:prstGeom>
          <a:solidFill>
            <a:srgbClr val="0A1A2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Tech Stack:  Next.js 14  TypeScript  Firebase Firestore  Claude AI (Anthropic)  Razorpay Payments  PWA / Service Workers  Google OAuth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Rs.85,000 Crore Problem Waiting to Be Solved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627632"/>
            <a:ext cx="2560320" cy="2560320"/>
          </a:xfrm>
          <a:prstGeom prst="oval">
            <a:avLst/>
          </a:prstGeom>
          <a:solidFill>
            <a:srgbClr val="1A3A6A"/>
          </a:solidFill>
          <a:ln w="19050">
            <a:solidFill>
              <a:srgbClr val="1D6F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6FE8"/>
                </a:solidFill>
              </a:rPr>
              <a:t>TAM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22311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Rs.85,000 Cr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" y="25968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Total India FinTech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60120" y="1920240"/>
            <a:ext cx="1920240" cy="1920240"/>
          </a:xfrm>
          <a:prstGeom prst="oval">
            <a:avLst/>
          </a:prstGeom>
          <a:solidFill>
            <a:srgbClr val="0A2A5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579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414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Rs.14,200 Cr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7066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Salaried + SME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572768" y="2212848"/>
            <a:ext cx="1298448" cy="1298448"/>
          </a:xfrm>
          <a:prstGeom prst="oval">
            <a:avLst/>
          </a:prstGeom>
          <a:solidFill>
            <a:srgbClr val="042040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72768" y="237744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SOM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72768" y="261518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Rs.850 Cr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72768" y="289864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Yr3 target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389120" y="1627632"/>
            <a:ext cx="4389120" cy="548640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0" y="17007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6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 Crore+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33872" y="1737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Working professionals in India (target users)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2286000"/>
            <a:ext cx="4389120" cy="548640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23591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6.5 Crore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33872" y="23957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ITR filers — direct tax planning customers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2944368"/>
            <a:ext cx="4389120" cy="548640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0560" y="30175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 Crore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33872" y="3054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New mutual fund investors added annually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3602736"/>
            <a:ext cx="4389120" cy="548640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80560" y="36758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Rs.18,000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33872" y="37124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Avg tax savings found per FinWise user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0" y="4261104"/>
            <a:ext cx="4389120" cy="548640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80560" y="43342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50x ROI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833872" y="43708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User return: Rs.499/mo vs Rs.25K/yr CA cost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4 USER SEGMENTS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Serving Every Indian — From Salaried to Banks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" y="1664208"/>
            <a:ext cx="1993392" cy="3255264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1664208"/>
            <a:ext cx="1993392" cy="54864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1792224"/>
            <a:ext cx="1280160" cy="256032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8013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Rs.499/mo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0624" y="212140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Individual / Salaried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0624" y="246888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</a:rPr>
              <a:t>14 Crore+ users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271576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Working professionals, salaried class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0624" y="2999232"/>
            <a:ext cx="1810512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30540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E8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Tax Wizard + Form 16 AI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0624" y="332841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E8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FIRE Planner + SIP optimizer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360273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E8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MF Portfolio X-Ray (CAMS)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" y="387705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E8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AI Advisor Hindi/English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" y="415137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E8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Goals + Gamification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" y="44256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E8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Weekly PDF report card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487168" y="1664208"/>
            <a:ext cx="1993392" cy="3255264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87168" y="1664208"/>
            <a:ext cx="199339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2578608" y="1792224"/>
            <a:ext cx="128016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2578608" y="18013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Rs.1,299/mo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78608" y="212140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Business Owners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578608" y="246888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6 Crore SMEs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78608" y="271576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Freelancers, proprietors, SME owners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78608" y="2999232"/>
            <a:ext cx="1810512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2578608" y="30540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Cash flow AI analyzer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78608" y="332841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GST + advance tax tracker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578608" y="360273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Loan eligibility predictor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78608" y="387705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Salary vs dividend optimizer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78608" y="415137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3 financial profiles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578608" y="44256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All Individual features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45152" y="1664208"/>
            <a:ext cx="1993392" cy="3255264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45152" y="1664208"/>
            <a:ext cx="199339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Shape 33"/>
          <p:cNvSpPr/>
          <p:nvPr/>
        </p:nvSpPr>
        <p:spPr>
          <a:xfrm>
            <a:off x="4736592" y="1792224"/>
            <a:ext cx="128016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4736592" y="18013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Rs.3,999/mo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36592" y="212140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Finance Professionals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36592" y="246888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8 Lakh CAs/CFPs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36592" y="271576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Chartered Accountants, planners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36592" y="2999232"/>
            <a:ext cx="1810512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4736592" y="30540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50 client profile manager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36592" y="332841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Bulk CAMS analysis tool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36592" y="360273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Compliance copilot AI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36592" y="387705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White-label client reports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36592" y="415137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API access (10K calls/mo)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36592" y="44256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All Business features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03136" y="1664208"/>
            <a:ext cx="1993392" cy="3255264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03136" y="1664208"/>
            <a:ext cx="19933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Shape 47"/>
          <p:cNvSpPr/>
          <p:nvPr/>
        </p:nvSpPr>
        <p:spPr>
          <a:xfrm>
            <a:off x="6894576" y="1792224"/>
            <a:ext cx="128016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6894576" y="18013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Rs.15L+/yr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94576" y="212140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Banks &amp; NBFCs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94576" y="246888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2,000+ institutions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94576" y="271576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White-label AI advisor SDK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894576" y="2999232"/>
            <a:ext cx="1810512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5" name="Text 53"/>
          <p:cNvSpPr/>
          <p:nvPr/>
        </p:nvSpPr>
        <p:spPr>
          <a:xfrm>
            <a:off x="6894576" y="30540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White-label AI advisor SDK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894576" y="332841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Customer intelligence dash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894576" y="360273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Loan underwriting AI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94576" y="387705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Cross-sell recommendations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894576" y="415137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Compliance reporting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894576" y="44256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Integration in 1 week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Multi-Stream Revenue from Day 1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47472" y="1664208"/>
            <a:ext cx="4983480" cy="62179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664208"/>
            <a:ext cx="54864" cy="621792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19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B2C Subscriptions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Recurring SaaS — Individual, Business, Professional plans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0" y="1719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6FE8"/>
                </a:solidFill>
              </a:rPr>
              <a:t>Rs.499 - Rs.3,999/mo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984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65% mix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7472" y="2395728"/>
            <a:ext cx="4983480" cy="62179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395728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50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B2B Enterprise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7249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Banks, NBFCs, fintech platforms — white-label SDK deals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2450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Rs.15L - Rs.1Cr/yr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715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25% mix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3127248"/>
            <a:ext cx="4983480" cy="62179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127248"/>
            <a:ext cx="54864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Monetization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4564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Usage-based API access for developers and embedded finance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3182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Rs.0.5 - Rs.2/call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447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7% mix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7472" y="3858768"/>
            <a:ext cx="4983480" cy="62179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3858768"/>
            <a:ext cx="54864" cy="6217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913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Referral Revenue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1879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Insurance + MF referrals (SEBI-compliant, fully disclosed)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39136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Commission-based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41788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3% mix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68112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3-Year ARR Projection (Rs. Crore)</a:t>
            </a:r>
            <a:endParaRPr lang="en-US" sz="10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5440680" y="1874520"/>
          <a:ext cx="33375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347472" y="4572000"/>
            <a:ext cx="1115568" cy="493776"/>
          </a:xfrm>
          <a:prstGeom prst="rect">
            <a:avLst/>
          </a:prstGeom>
          <a:solidFill>
            <a:srgbClr val="08120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347472" y="460857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CAC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47472" y="4791456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6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Rs.420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627632" y="4572000"/>
            <a:ext cx="1115568" cy="493776"/>
          </a:xfrm>
          <a:prstGeom prst="rect">
            <a:avLst/>
          </a:prstGeom>
          <a:solidFill>
            <a:srgbClr val="08120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1627632" y="460857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LTV (24mo)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627632" y="4791456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Rs.7,200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2907792" y="4572000"/>
            <a:ext cx="1115568" cy="493776"/>
          </a:xfrm>
          <a:prstGeom prst="rect">
            <a:avLst/>
          </a:prstGeom>
          <a:solidFill>
            <a:srgbClr val="08120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2907792" y="460857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LTV:CAC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907792" y="4791456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17.1x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4187952" y="4572000"/>
            <a:ext cx="1115568" cy="493776"/>
          </a:xfrm>
          <a:prstGeom prst="rect">
            <a:avLst/>
          </a:prstGeom>
          <a:solidFill>
            <a:srgbClr val="08120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4187952" y="460857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Gross Margin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187952" y="4791456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78%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TRACTION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Idea to 10,000 Users in 3 Months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9184" y="1664208"/>
            <a:ext cx="2624328" cy="74980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9184" y="171907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6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9184" y="2139696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Registered users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82112" y="1664208"/>
            <a:ext cx="2624328" cy="74980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82112" y="171907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Rs.18K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182112" y="2139696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Avg tax saved per user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1664208"/>
            <a:ext cx="2624328" cy="74980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71907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4.8 Star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35040" y="2139696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User rating (1,247 reviews)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" y="2578608"/>
            <a:ext cx="2624328" cy="74980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" y="263347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9184" y="3054096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30-day retention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82112" y="2578608"/>
            <a:ext cx="2624328" cy="74980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82112" y="263347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 min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182112" y="3054096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Avg session duration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2578608"/>
            <a:ext cx="2624328" cy="74980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263347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Lakh+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035040" y="3054096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advisor queries answered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639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Building Journey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86784"/>
            <a:ext cx="91440" cy="91440"/>
          </a:xfrm>
          <a:prstGeom prst="oval">
            <a:avLst/>
          </a:prstGeom>
          <a:solidFill>
            <a:srgbClr val="1D6FE8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319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Jan 2025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10512" y="39319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Founded at KIIT University, Bhubaneswar by Sumit &amp; Mehak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91440" cy="91440"/>
          </a:xfrm>
          <a:prstGeom prst="oval">
            <a:avLst/>
          </a:prstGeom>
          <a:solidFill>
            <a:srgbClr val="1D6FE8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1513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Jun 2025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810512" y="41513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Tax Wizard beta — average Rs.18K savings found per user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425696"/>
            <a:ext cx="91440" cy="91440"/>
          </a:xfrm>
          <a:prstGeom prst="oval">
            <a:avLst/>
          </a:prstGeom>
          <a:solidFill>
            <a:srgbClr val="1D6FE8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4370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Sep 2025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810512" y="43708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FIRE Planner, MF X-Ray, Claude AI advisor all launched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645152"/>
            <a:ext cx="91440" cy="91440"/>
          </a:xfrm>
          <a:prstGeom prst="oval">
            <a:avLst/>
          </a:prstGeom>
          <a:solidFill>
            <a:srgbClr val="1D6FE8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45902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Jan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810512" y="45902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Full platform launch. Crossed 10,000 registered users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864608"/>
            <a:ext cx="91440" cy="91440"/>
          </a:xfrm>
          <a:prstGeom prst="oval">
            <a:avLst/>
          </a:prstGeom>
          <a:solidFill>
            <a:srgbClr val="1D6FE8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48097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Mar 2026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810512" y="480974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ET AI Hackathon 2026 finalist. Raising Rs.2 Crore seed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COMPETITIVE ADVANTAGE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FinWise AI Wins</a:t>
            </a:r>
            <a:endParaRPr lang="en-US" sz="4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664208"/>
          <a:ext cx="8449056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07008"/>
                <a:gridCol w="1207008"/>
                <a:gridCol w="1207008"/>
                <a:gridCol w="1005840"/>
                <a:gridCol w="1207008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FinWise AI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</a:rPr>
                        <a:t>ET Money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</a:rPr>
                        <a:t>Coin/Zerodha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</a:rPr>
                        <a:t>Groww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</a:rPr>
                        <a:t>Human CA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Personalized AI advice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YES (costly)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Tax Wizard + Form 16 AI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Partial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FIRE Path Planner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Hindi conversational AI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MF XIRR + overlap detect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Partial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Partial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Scenario life simulator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Business cash flow AI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White-label B2B SDK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Monthly price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Rs.499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Free*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Free*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Free*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Rs.2,000+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47472" y="4480560"/>
            <a:ext cx="8449056" cy="548640"/>
          </a:xfrm>
          <a:prstGeom prst="rect">
            <a:avLst/>
          </a:prstGeom>
          <a:solidFill>
            <a:srgbClr val="08120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498848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UNFAIR ADVANTAGES: Claude AI integration (best reasoning)  Only Hinglish AI advisor  B2B white-label SDK  Indian tax domain expertise  KIIT + ET network effect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AI-First Architecture Built for Scale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9184" y="1664208"/>
            <a:ext cx="2688336" cy="117043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1664208"/>
            <a:ext cx="2688336" cy="4572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7393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</a:rPr>
              <a:t>Next.js 14 + TypeScript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SSR + PWA, offline-first, sub-2s load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82112" y="1664208"/>
            <a:ext cx="2688336" cy="117043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664208"/>
            <a:ext cx="2688336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177393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210312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Firebase + Next.js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0128" y="2359152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Serverless, auto-scaling, global CDN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664208"/>
            <a:ext cx="2688336" cy="117043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664208"/>
            <a:ext cx="2688336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163056" y="177393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Engine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63056" y="210312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Claude AI (Anthropic)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63056" y="2359152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claude-sonnet-4-20250514, Hinglish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" y="2990088"/>
            <a:ext cx="2688336" cy="117043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" y="2990088"/>
            <a:ext cx="2688336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0998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Database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42900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Firebase Firestore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685032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Real-time sync, india-south1 region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82112" y="2990088"/>
            <a:ext cx="2688336" cy="117043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82112" y="2990088"/>
            <a:ext cx="2688336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3310128" y="30998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Payments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10128" y="342900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Razorpay Integration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10128" y="3685032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UPI, cards, net banking, subscriptions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990088"/>
            <a:ext cx="2688336" cy="117043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990088"/>
            <a:ext cx="2688336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6163056" y="30998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Security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63056" y="342900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NextAuth + bcrypt + AES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63056" y="3685032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Google OAuth, JWT, encrypted at rest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" y="4462272"/>
            <a:ext cx="8485632" cy="566928"/>
          </a:xfrm>
          <a:prstGeom prst="rect">
            <a:avLst/>
          </a:prstGeom>
          <a:solidFill>
            <a:srgbClr val="0A001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48056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</a:rPr>
              <a:t>SECURITY: All financial data encrypted at rest + in transit  |  No training on user data (Anthropic policy)  |  SEBI/RBI compliant data residency (India servers)  |  Zero third-party data sharing  |  SOC2 Type II planned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GO-TO-MARKET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3-Phase Growth Engine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9184" y="1664208"/>
            <a:ext cx="2697480" cy="331012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1664208"/>
            <a:ext cx="2697480" cy="54864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783080"/>
            <a:ext cx="914400" cy="256032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792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08176" y="18013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Month 1-6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8912" y="20848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Organic + Community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395728"/>
            <a:ext cx="2487168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4505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E8"/>
                </a:solidFill>
              </a:rPr>
              <a:t>&gt;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Reddit, LinkedIn, Twitter CA/finance communities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" y="286207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E8"/>
                </a:solidFill>
              </a:rPr>
              <a:t>&gt;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YouTube: 'Form 16 kya hota hai' video series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8912" y="327355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E8"/>
                </a:solidFill>
              </a:rPr>
              <a:t>&gt;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College campus ambassador program (KIIT first)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" y="368503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E8"/>
                </a:solidFill>
              </a:rPr>
              <a:t>&gt;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ProductHunt launch + Hackathon press coverage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8912" y="4096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E8"/>
                </a:solidFill>
              </a:rPr>
              <a:t>&gt;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WhatsApp group seeding in professional groups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8912" y="4279392"/>
            <a:ext cx="2487168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433425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6FE8"/>
                </a:solidFill>
              </a:rPr>
              <a:t>Target: 0 to 50,000 users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456285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Rs.180 CAC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82112" y="1664208"/>
            <a:ext cx="2697480" cy="331012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1664208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20"/>
          <p:cNvSpPr/>
          <p:nvPr/>
        </p:nvSpPr>
        <p:spPr>
          <a:xfrm>
            <a:off x="3291840" y="1783080"/>
            <a:ext cx="9144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792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61104" y="18013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Month 6-18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291840" y="20848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Paid + Partnerships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2395728"/>
            <a:ext cx="2487168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24505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&gt;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Google Ads: tax keywords (high-intent ITR season)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91840" y="286207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&gt;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YouTube pre-roll ads (March ITR filing peak)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91840" y="327355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&gt;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CA/CFP partnerships — white-label for clients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91840" y="368503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&gt;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HR software integrations (Darwinbox, Keka)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91840" y="4096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&gt;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ET Money + Economic Times distribution deal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91840" y="4279392"/>
            <a:ext cx="2487168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433425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Target: 50K to 5 Lakh users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91840" y="456285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Rs.380 CAC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35040" y="1664208"/>
            <a:ext cx="2697480" cy="331012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1664208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Shape 35"/>
          <p:cNvSpPr/>
          <p:nvPr/>
        </p:nvSpPr>
        <p:spPr>
          <a:xfrm>
            <a:off x="6144768" y="1783080"/>
            <a:ext cx="91440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144768" y="1792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114032" y="18013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Month 18-36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144768" y="20848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Enterprise + API Scale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44768" y="2395728"/>
            <a:ext cx="2487168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6144768" y="245059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&gt;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Top 20 private banks white-label deployment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44768" y="286207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&gt;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NBFC digital lending AI underwriting B2B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44768" y="327355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&gt;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Fintech API marketplace (RapidAPI, AWS)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44768" y="368503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&gt;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International NRI expansion UAE + Singapore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44768" y="4096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&gt;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Avataar.ai + Series A partnership ecosystem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44768" y="4279392"/>
            <a:ext cx="2487168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8" name="Text 46"/>
          <p:cNvSpPr/>
          <p:nvPr/>
        </p:nvSpPr>
        <p:spPr>
          <a:xfrm>
            <a:off x="6144768" y="433425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Target: 5L users + 3 banks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44768" y="456285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Rs.420 CAC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FINANCIAL PROJECTIONS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Rs.2.9 Crore to Rs.100 Crore ARR in 3 Years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664208"/>
          <a:ext cx="56692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24712"/>
                <a:gridCol w="1124712"/>
                <a:gridCol w="1133856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</a:rPr>
                        <a:t>Registered Users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50,000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5,00,000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25,00,000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</a:rPr>
                        <a:t>Paying Users (B2C)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5,000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80,000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4,00,000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</a:rPr>
                        <a:t>Enterprise Clients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</a:rPr>
                        <a:t>B2C Revenue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Rs.2.4 Cr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Rs.14.4 Cr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Rs.72 Cr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</a:rPr>
                        <a:t>Enterprise Revenue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Rs.0.5 Cr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Rs.5.3 Cr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Rs.28 Cr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</a:rPr>
                        <a:t>Total ARR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Rs.2.9 Cr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Rs.19.7 Cr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Rs.100 Cr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</a:rPr>
                        <a:t>Gross Margin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72%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76%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81%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</a:rPr>
                        <a:t>Monthly Burn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Rs.18 L/mo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Rs.45 L/mo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Rs.70 L/mo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</a:rPr>
                        <a:t>EBITDA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</a:rPr>
                        <a:t>-Rs.1.8 Cr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Rs.2.1 Cr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Rs.28 Cr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199632" y="1627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Key Assumptions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199632" y="19568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*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Pro conversion: 8% of free users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199632" y="23042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*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Monthly churn: under 3%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199632" y="26517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*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ARPU growth +15% YoY via upgrades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199632" y="29992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*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1 enterprise deal = Rs.15L-1Cr/yr min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199632" y="33467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*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AI API cost under 6% of revenue at scale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199632" y="36941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*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CAC payback: 8 months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199632" y="40416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*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Break-even: Month 22 (conservative)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99632" y="4343400"/>
            <a:ext cx="2651760" cy="731520"/>
          </a:xfrm>
          <a:prstGeom prst="rect">
            <a:avLst/>
          </a:prstGeom>
          <a:solidFill>
            <a:srgbClr val="08120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91072" y="4389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Break-even Target: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91072" y="462686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Month 22 (conservative)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Month 18 (base case)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Raising Rs.2 Crore Seed Round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B6D4"/>
                </a:solidFill>
              </a:rPr>
              <a:t>To scale India's first AI financial OS from 10,000 to 5 Lakh users in 18 months.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2029968"/>
            <a:ext cx="5074920" cy="53035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2487168"/>
            <a:ext cx="507492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2487168"/>
            <a:ext cx="2029968" cy="54864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20848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6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084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 &amp; Engineering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3042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 senior engineers, AI/ML infra, mobile app, API platform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005072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6FE8"/>
                </a:solidFill>
              </a:rPr>
              <a:t>Rs.80 Lakhs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" y="2670048"/>
            <a:ext cx="5074920" cy="53035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3127248"/>
            <a:ext cx="507492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" y="3127248"/>
            <a:ext cx="1522476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272491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2724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Growth &amp; Marketing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9443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Performance marketing, CA partnerships, content, branding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05072" y="2743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Rs.60 Lakhs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7472" y="3310128"/>
            <a:ext cx="5074920" cy="53035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767328"/>
            <a:ext cx="507492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347472" y="3767328"/>
            <a:ext cx="1014984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336499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05840" y="3364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 Hiring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5844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Sales head, marketing hire, customer success, compliance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005072" y="33832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Rs.40 Lakhs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7472" y="3950208"/>
            <a:ext cx="5074920" cy="53035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4407408"/>
            <a:ext cx="507492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347472" y="4407408"/>
            <a:ext cx="5074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400507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5840" y="4005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Operations &amp; Legal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42245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Infra, office, SEBI compliance, legal and regulatory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005072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Rs.20 Lakhs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50992" y="1993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What We Offer Investors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50992" y="2331720"/>
            <a:ext cx="3246120" cy="34747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60720" y="23682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*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SAFE / Convertible note with 20% discount cap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50992" y="2752344"/>
            <a:ext cx="3246120" cy="34747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760720" y="2788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*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Valuation: Rs.12 Crore post-money (pre-revenue)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50992" y="3172968"/>
            <a:ext cx="3246120" cy="34747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760720" y="32095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*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18-month runway to Series A (Rs.150 Cr ARR trigger)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50992" y="3593592"/>
            <a:ext cx="3246120" cy="34747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760720" y="3630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*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ET Hackathon ecosystem + Avataar.ai mentorship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50992" y="4014216"/>
            <a:ext cx="3246120" cy="34747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760720" y="40507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*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Strategic investor gets board observer seat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50992" y="4434840"/>
            <a:ext cx="3246120" cy="34747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760720" y="44714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*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10x return potential by Year 3 (Rs.100 Cr ARR)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THE 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Young, Hungry, and All-In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47472" y="1691640"/>
            <a:ext cx="4041648" cy="318211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691640"/>
            <a:ext cx="4041648" cy="4572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1828800"/>
            <a:ext cx="1005840" cy="1005840"/>
          </a:xfrm>
          <a:prstGeom prst="oval">
            <a:avLst/>
          </a:prstGeom>
          <a:solidFill>
            <a:srgbClr val="1D6FE8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73352" y="1874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Sumit Kumar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73352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FE8"/>
                </a:solidFill>
              </a:rPr>
              <a:t>CEO &amp; Co-founder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73352" y="2514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KIIT University, Bhubaneswar — 751024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" y="2834640"/>
            <a:ext cx="3712464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2889504"/>
            <a:ext cx="3712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Passionate about democratizing financial planning for India. Leads product, business development, and investor relations at FinWise AI. Built the core AI advisor and tax engine.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2064" y="3584448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Core Skills: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12064" y="3785616"/>
            <a:ext cx="1115568" cy="210312"/>
          </a:xfrm>
          <a:prstGeom prst="rect">
            <a:avLst/>
          </a:prstGeom>
          <a:solidFill>
            <a:srgbClr val="1D6FE8">
              <a:alpha val="2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3785616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Product Vision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746504" y="3785616"/>
            <a:ext cx="1115568" cy="210312"/>
          </a:xfrm>
          <a:prstGeom prst="rect">
            <a:avLst/>
          </a:prstGeom>
          <a:solidFill>
            <a:srgbClr val="1D6FE8">
              <a:alpha val="2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746504" y="3785616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Business Strategy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980944" y="3785616"/>
            <a:ext cx="1115568" cy="210312"/>
          </a:xfrm>
          <a:prstGeom prst="rect">
            <a:avLst/>
          </a:prstGeom>
          <a:solidFill>
            <a:srgbClr val="1D6FE8">
              <a:alpha val="2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980944" y="3785616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 Integration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12064" y="4059936"/>
            <a:ext cx="1115568" cy="210312"/>
          </a:xfrm>
          <a:prstGeom prst="rect">
            <a:avLst/>
          </a:prstGeom>
          <a:solidFill>
            <a:srgbClr val="1D6FE8">
              <a:alpha val="2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" y="4059936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Finance Domain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746504" y="4059936"/>
            <a:ext cx="1115568" cy="210312"/>
          </a:xfrm>
          <a:prstGeom prst="rect">
            <a:avLst/>
          </a:prstGeom>
          <a:solidFill>
            <a:srgbClr val="1D6FE8">
              <a:alpha val="2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746504" y="4059936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Fundraising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12064" y="4352544"/>
            <a:ext cx="3712464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" y="4407408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6FE8"/>
                </a:solidFill>
              </a:rPr>
              <a:t>Email: sumitranjanhisu@gmail.com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2064" y="4608576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Phone: +91 73660 06363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1691640"/>
            <a:ext cx="4041648" cy="318211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691640"/>
            <a:ext cx="4041648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1828800"/>
            <a:ext cx="1005840" cy="1005840"/>
          </a:xfrm>
          <a:prstGeom prst="oval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MS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989320" y="1874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Mehak Singhal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989320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CTO &amp; Co-founder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89320" y="2514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KIIT University, Bhubaneswar — 751024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28032" y="2834640"/>
            <a:ext cx="3712464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2889504"/>
            <a:ext cx="3712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Full-stack engineer and AI enthusiast. Leads all product development and technical architecture. Built the entire platform — frontend, backend, AI APIs, and Firebase infrastructure.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28032" y="3584448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Core Skills: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28032" y="3785616"/>
            <a:ext cx="1115568" cy="210312"/>
          </a:xfrm>
          <a:prstGeom prst="rect">
            <a:avLst/>
          </a:prstGeom>
          <a:solidFill>
            <a:srgbClr val="7C3AED">
              <a:alpha val="2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28032" y="3785616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Full-Stack Dev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062472" y="3785616"/>
            <a:ext cx="1115568" cy="210312"/>
          </a:xfrm>
          <a:prstGeom prst="rect">
            <a:avLst/>
          </a:prstGeom>
          <a:solidFill>
            <a:srgbClr val="7C3AED">
              <a:alpha val="2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062472" y="3785616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AI/ML Engineering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296912" y="3785616"/>
            <a:ext cx="1115568" cy="210312"/>
          </a:xfrm>
          <a:prstGeom prst="rect">
            <a:avLst/>
          </a:prstGeom>
          <a:solidFill>
            <a:srgbClr val="7C3AED">
              <a:alpha val="2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296912" y="3785616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Firebase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828032" y="4059936"/>
            <a:ext cx="1115568" cy="210312"/>
          </a:xfrm>
          <a:prstGeom prst="rect">
            <a:avLst/>
          </a:prstGeom>
          <a:solidFill>
            <a:srgbClr val="7C3AED">
              <a:alpha val="2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828032" y="4059936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Next.js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062472" y="4059936"/>
            <a:ext cx="1115568" cy="210312"/>
          </a:xfrm>
          <a:prstGeom prst="rect">
            <a:avLst/>
          </a:prstGeom>
          <a:solidFill>
            <a:srgbClr val="7C3AED">
              <a:alpha val="2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062472" y="4059936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System Design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28032" y="4352544"/>
            <a:ext cx="3712464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Text 47"/>
          <p:cNvSpPr/>
          <p:nvPr/>
        </p:nvSpPr>
        <p:spPr>
          <a:xfrm>
            <a:off x="4828032" y="4407408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</a:rPr>
              <a:t>Email: singhalmehak04@gmail.com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28032" y="4608576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Phone: +91 70806 40233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9184" y="4864608"/>
            <a:ext cx="8485632" cy="228600"/>
          </a:xfrm>
          <a:prstGeom prst="rect">
            <a:avLst/>
          </a:prstGeom>
          <a:solidFill>
            <a:srgbClr val="0A1A2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" y="4864608"/>
            <a:ext cx="8485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KIIT University (Kalinga Institute of Industrial Technology), Bhubaneswar, Odisha 751024  |  ET AI Hackathon 2026 — Problem Statement #9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12-MONTH PRODUCT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Post-Funding Execution Plan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9184" y="1664208"/>
            <a:ext cx="1993392" cy="3255264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1664208"/>
            <a:ext cx="1993392" cy="54864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1783080"/>
            <a:ext cx="868680" cy="256032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7922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Q1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53312" y="180136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Apr-Jun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0624" y="20848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Foundation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" y="2395728"/>
            <a:ext cx="1810512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" y="24505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E8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iOS + Android native apps (React Native)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0624" y="29077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E8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Offline PWA mode (Service Worker v2)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0624" y="33649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E8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Voice input in Hindi for AI advisor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0624" y="38221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E8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Form 26AS auto-fetch via IT portal API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0624" y="42793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E8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CAMS/KARVY automated statement import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87168" y="1664208"/>
            <a:ext cx="1993392" cy="3255264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87168" y="1664208"/>
            <a:ext cx="199339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Shape 17"/>
          <p:cNvSpPr/>
          <p:nvPr/>
        </p:nvSpPr>
        <p:spPr>
          <a:xfrm>
            <a:off x="2578608" y="1783080"/>
            <a:ext cx="86868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2578608" y="17922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Q2 2026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11296" y="180136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Jul-Sep 2026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578608" y="20848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Growth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78608" y="2395728"/>
            <a:ext cx="1810512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2578608" y="24505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Launch in 6 languages (Tamil, Telugu, Bengali, Kannada, Gujarati)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78608" y="29077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Employer integrations (CTC optimizer for HRs)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78608" y="33649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Insurance gap analyzer + auto-recommendations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78608" y="38221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First 3 CA firm partnerships for white-labeling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78608" y="42793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Target: 50,000 users milestone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45152" y="1664208"/>
            <a:ext cx="1993392" cy="3255264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45152" y="1664208"/>
            <a:ext cx="199339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Shape 29"/>
          <p:cNvSpPr/>
          <p:nvPr/>
        </p:nvSpPr>
        <p:spPr>
          <a:xfrm>
            <a:off x="4736592" y="1783080"/>
            <a:ext cx="86868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4736592" y="17922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Q3 2026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69280" y="180136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Oct-Dec 2026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736592" y="20848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Enterprise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36592" y="2395728"/>
            <a:ext cx="1810512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4736592" y="24505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First bank white-label deployment (pilot)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36592" y="29077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API marketplace listing (RapidAPI, AWS)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36592" y="33649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Wealth management: Stocks + PMS integration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36592" y="38221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GST filing automation for business plan users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36592" y="42793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Series A fundraise begins (Rs.15-25 Crore target)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803136" y="1664208"/>
            <a:ext cx="1993392" cy="3255264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03136" y="1664208"/>
            <a:ext cx="19933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Shape 41"/>
          <p:cNvSpPr/>
          <p:nvPr/>
        </p:nvSpPr>
        <p:spPr>
          <a:xfrm>
            <a:off x="6894576" y="1783080"/>
            <a:ext cx="8686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6894576" y="17922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Q4 2026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827264" y="180136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Jan-Mar 2027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894576" y="20848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94576" y="2395728"/>
            <a:ext cx="1810512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8" name="Text 46"/>
          <p:cNvSpPr/>
          <p:nvPr/>
        </p:nvSpPr>
        <p:spPr>
          <a:xfrm>
            <a:off x="6894576" y="24505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2 banks + 3 NBFCs on production platform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94576" y="29077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NRI expansion: UAE + Singapore launch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94576" y="33649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AI-powered insurance claim assistance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94576" y="38221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5 Lakh registered users milestone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94576" y="42793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Rs.20 Crore ARR run rate achieved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RISKS &amp; MITIGATION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Know the Risks. Here's How We Address Them.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9184" y="1664208"/>
            <a:ext cx="4069080" cy="102412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1664208"/>
            <a:ext cx="54864" cy="10241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7190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SEBI Regulation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63824" y="1737360"/>
            <a:ext cx="1097280" cy="201168"/>
          </a:xfrm>
          <a:prstGeom prst="rect">
            <a:avLst/>
          </a:prstGeom>
          <a:solidFill>
            <a:srgbClr val="F59E0B">
              <a:alpha val="3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163824" y="1737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Medium risk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5488" y="1993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87171"/>
                </a:solidFill>
              </a:rPr>
              <a:t>Risk: SEBI may restrict AI-generated investment advice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223113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Mitigation: Platform = 'financial education tool', not advisory. No specific stock/fund picks. Full SEBI disclaimer on every output. Proactive regulatory lawyer consultation.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645152" y="1664208"/>
            <a:ext cx="4069080" cy="102412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1664208"/>
            <a:ext cx="54864" cy="10241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791456" y="17190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Hallucinations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79792" y="1737360"/>
            <a:ext cx="1097280" cy="201168"/>
          </a:xfrm>
          <a:prstGeom prst="rect">
            <a:avLst/>
          </a:prstGeom>
          <a:solidFill>
            <a:srgbClr val="F59E0B">
              <a:alpha val="3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479792" y="1737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Medium risk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91456" y="1993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87171"/>
                </a:solidFill>
              </a:rPr>
              <a:t>Risk: Claude AI may give incorrect tax/financial info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91456" y="223113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Mitigation: Tax calculations are rule-based (not AI). AI outputs include confidence scores. Cites sources. Human review layer for high-stakes outputs. Extensive Indian tax edge case testing.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29184" y="2807208"/>
            <a:ext cx="4069080" cy="102412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" y="2807208"/>
            <a:ext cx="54864" cy="10241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28620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Big Tech Competition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63824" y="2880360"/>
            <a:ext cx="1097280" cy="201168"/>
          </a:xfrm>
          <a:prstGeom prst="rect">
            <a:avLst/>
          </a:prstGeom>
          <a:solidFill>
            <a:srgbClr val="DC2626">
              <a:alpha val="3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163824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High risk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5488" y="3136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87171"/>
                </a:solidFill>
              </a:rPr>
              <a:t>Risk: Google, Paytm, PhonePe can clone features fast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37413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Mitigation: Deep Indian tax domain expertise is a moat. Community lock-in via goals + gamification + financial history. First-mover advantage in CA white-label market. Hindi AI is sticky.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645152" y="2807208"/>
            <a:ext cx="4069080" cy="102412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45152" y="2807208"/>
            <a:ext cx="54864" cy="10241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4791456" y="28620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Security Breach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79792" y="2880360"/>
            <a:ext cx="1097280" cy="201168"/>
          </a:xfrm>
          <a:prstGeom prst="rect">
            <a:avLst/>
          </a:prstGeom>
          <a:solidFill>
            <a:srgbClr val="DC2626">
              <a:alpha val="3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479792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High risk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91456" y="3136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87171"/>
                </a:solidFill>
              </a:rPr>
              <a:t>Risk: Financial data breach would be catastrophic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91456" y="337413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Mitigation: AES-256 encryption at rest + in transit. Zero third-party data sharing. India-region servers. Regular security audits. No financial credentials stored. SOC2 compliance planned.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329184" y="3950208"/>
            <a:ext cx="4069080" cy="102412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" y="3950208"/>
            <a:ext cx="54864" cy="10241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" y="40050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Low Paid Conversion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63824" y="4023360"/>
            <a:ext cx="1097280" cy="201168"/>
          </a:xfrm>
          <a:prstGeom prst="rect">
            <a:avLst/>
          </a:prstGeom>
          <a:solidFill>
            <a:srgbClr val="0D9488">
              <a:alpha val="3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163824" y="4023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Low risk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5488" y="4279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87171"/>
                </a:solidFill>
              </a:rPr>
              <a:t>Risk: Users may not upgrade from free to paid plan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" y="451713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Mitigation: Show Rs.18K savings BEFORE paywall. Annual plan (2 months free) reduces churn. Gamification increases daily habit. Target 8% free-to-paid conversion (industry avg: 3-5%).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645152" y="3950208"/>
            <a:ext cx="4069080" cy="1024128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45152" y="3950208"/>
            <a:ext cx="54864" cy="10241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4791456" y="40050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Runway Overspend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79792" y="4023360"/>
            <a:ext cx="1097280" cy="201168"/>
          </a:xfrm>
          <a:prstGeom prst="rect">
            <a:avLst/>
          </a:prstGeom>
          <a:solidFill>
            <a:srgbClr val="0D9488">
              <a:alpha val="3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479792" y="4023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Low risk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91456" y="4279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87171"/>
                </a:solidFill>
              </a:rPr>
              <a:t>Risk: Rs.2Cr may run out before profitability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91456" y="451713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Mitigation: Revenue from Day 1 (Rs.499/mo). Enterprise pilot revenue from Month 6. B2C break-even at 5,000 paying users (Month 9 target). Lean team, remote-first. Series A triggers defined.</a:t>
            </a:r>
            <a:endParaRPr lang="en-US" sz="8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</a:rPr>
              <a:t>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Tailwinds Making This the Perfect Moment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" y="1664208"/>
            <a:ext cx="8485632" cy="53035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" y="1664208"/>
            <a:ext cx="54864" cy="530352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73736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6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50976" y="1719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Cost Collapse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719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Claude/GPT API costs dropped 10x in 18 months. What cost Rs.8/query in 2023 costs Rs.0.5 today. AI-first fintech is finally economically viable at Rs.499/month subscription.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" y="2304288"/>
            <a:ext cx="8485632" cy="53035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" y="2304288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" y="237744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India's ITR Boom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3591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ITR filers grew from 3.5 Crore to 7.4 Crore in 4 years. New tax regime confusion drove 40% of filers to seek help. Zero good AI tools exist for this gap today.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" y="2944368"/>
            <a:ext cx="8485632" cy="53035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" y="2944368"/>
            <a:ext cx="54864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" y="301752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50976" y="2999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UPI x Fintech Trust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29992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UPI processed 18 billion transactions in Jan 2026. Indians are comfortable with digital finance. Trust in fintech apps is at an all-time high. Timing is perfect.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" y="3584448"/>
            <a:ext cx="8485632" cy="53035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" y="3584448"/>
            <a:ext cx="54864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" y="365760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0976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Smartphone Penetration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36393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92% of India's internet users are on smartphone. Hindi internet users grew 400% in 5 years. Vernacular AI financial advisor is a completely untapped opportunity.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" y="4224528"/>
            <a:ext cx="8485632" cy="530352"/>
          </a:xfrm>
          <a:prstGeom prst="rect">
            <a:avLst/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" y="4224528"/>
            <a:ext cx="54864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" y="429768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50976" y="4279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New Tax Regime Confusion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427939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Budget 2024-25 pushed millions to reconsider old vs new regime. Confusion = demand. Our Tax Wizard with Form 16 AI is the only tool that solves this cleanly.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oval">
            <a:avLst/>
          </a:prstGeom>
          <a:solidFill>
            <a:srgbClr val="1D6FE8">
              <a:alpha val="10000"/>
            </a:srgbClr>
          </a:solidFill>
          <a:ln w="6350">
            <a:solidFill>
              <a:srgbClr val="1D6F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oval">
            <a:avLst/>
          </a:prstGeom>
          <a:solidFill>
            <a:srgbClr val="06B6D4">
              <a:alpha val="8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47472"/>
            <a:ext cx="2560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566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TROPHY  ET AI HACKATHON 2026  PS#9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0" y="347472"/>
            <a:ext cx="210312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3566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KIIT UNIVERSITY BHUBANESWAR</a:t>
            </a:r>
            <a:endParaRPr lang="en-US" sz="850" dirty="0"/>
          </a:p>
        </p:txBody>
      </p:sp>
      <p:pic>
        <p:nvPicPr>
          <p:cNvPr id="9" name="Image 0" descr="/home/claude/finwise-final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868680"/>
            <a:ext cx="1554480" cy="1554480"/>
          </a:xfrm>
          <a:prstGeom prst="ellipse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578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FinWise AI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457200" y="3310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B6D4"/>
                </a:solidFill>
              </a:rPr>
              <a:t>India's AI Financial OS — The CA Every Indian Deserves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749040"/>
            <a:ext cx="822960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8221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Let's Build India's Financial Future Together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187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6FE8"/>
                </a:solidFill>
              </a:rPr>
              <a:t>Sumit Kumar (CEO)  |  sumitranjanhisu@gmail.com  |  +91 73660 06363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B5FD"/>
                </a:solidFill>
              </a:rPr>
              <a:t>Mehak Singhal (CTO)  |  singhalmehak04@gmail.com  |  +91 70806 40233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4320" y="482803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Raising Rs.2 Crore Seed  |  finwise.ai  |  KIIT University, Bhubaneswar, Odisha 751024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FinWise AI — Seed Investment Pitch</dc:title>
  <dc:subject>PptxGenJS Presentation</dc:subject>
  <dc:creator>Sumit Kumar &amp; Mehak Singhal</dc:creator>
  <cp:lastModifiedBy>Sumit Kumar &amp; Mehak Singhal</cp:lastModifiedBy>
  <cp:revision>1</cp:revision>
  <dcterms:created xsi:type="dcterms:W3CDTF">2026-03-22T17:09:25Z</dcterms:created>
  <dcterms:modified xsi:type="dcterms:W3CDTF">2026-03-22T17:09:25Z</dcterms:modified>
</cp:coreProperties>
</file>